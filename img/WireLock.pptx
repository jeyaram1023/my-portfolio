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Familjen Grotesk Bold" panose="020B0604020202020204" charset="0"/>
      <p:regular r:id="rId8"/>
    </p:embeddedFont>
    <p:embeddedFont>
      <p:font typeface="Onest" panose="020B0604020202020204" charset="0"/>
      <p:regular r:id="rId9"/>
    </p:embeddedFont>
    <p:embeddedFont>
      <p:font typeface="Onest Bold" panose="020B0604020202020204" charset="0"/>
      <p:regular r:id="rId10"/>
    </p:embeddedFont>
    <p:embeddedFont>
      <p:font typeface="Onest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537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70543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AUTOMOTIVE CYBERSECURITY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8916"/>
            <a:ext cx="6095848" cy="89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7200" b="1" kern="100" spc="-216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Wire</a:t>
            </a:r>
            <a:r>
              <a:rPr lang="en-US" sz="7200" b="1" kern="100" spc="-216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Lock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1922760"/>
            <a:ext cx="60958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$2 Zero-RF Automotive Security Solution.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505373"/>
            <a:ext cx="711182" cy="31651"/>
          </a:xfrm>
          <a:prstGeom prst="roundRect">
            <a:avLst>
              <a:gd name="adj" fmla="val 49998"/>
            </a:avLst>
          </a:prstGeom>
          <a:solidFill>
            <a:srgbClr val="9BD33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764135"/>
            <a:ext cx="6095848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Eliminating relay attacks with physical cryptographic authentication.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5968008"/>
            <a:ext cx="670543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JEYARAM B · +91 8309631052 · jeyaram.reddy.ece@gmail.com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EE3A6C-6E76-1091-37D5-BA1CD8574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551" y="0"/>
            <a:ext cx="487561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911BDB-F889-A195-2552-D5A368011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7503" y="-34032"/>
            <a:ext cx="53198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0862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18212" y="975717"/>
            <a:ext cx="2043061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4" name="Text 1"/>
          <p:cNvSpPr/>
          <p:nvPr/>
        </p:nvSpPr>
        <p:spPr>
          <a:xfrm>
            <a:off x="7632509" y="1020167"/>
            <a:ext cx="242405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 · THE EXPOSURE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518212" y="1373882"/>
            <a:ext cx="4063898" cy="132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Keyless entry has a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wireless attack surface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518212" y="2998391"/>
            <a:ext cx="711182" cy="31651"/>
          </a:xfrm>
          <a:prstGeom prst="roundRect">
            <a:avLst>
              <a:gd name="adj" fmla="val 49998"/>
            </a:avLst>
          </a:prstGeom>
          <a:solidFill>
            <a:srgbClr val="FF6A3D"/>
          </a:solidFill>
          <a:ln/>
        </p:spPr>
      </p:sp>
      <p:sp>
        <p:nvSpPr>
          <p:cNvPr id="7" name="Text 4"/>
          <p:cNvSpPr/>
          <p:nvPr/>
        </p:nvSpPr>
        <p:spPr>
          <a:xfrm>
            <a:off x="7518212" y="3257153"/>
            <a:ext cx="4063898" cy="262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Relay and skimming attacks increasingly compromise keyless entry systems.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UWB and biometrics add significant hardware cost, often $20+, while still relying on wireless channels.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Commercial fleets, rental companies, and vehicle owners absorb the resulting theft and disruption.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5848" y="0"/>
            <a:ext cx="812680" cy="6858000"/>
          </a:xfrm>
          <a:prstGeom prst="rect">
            <a:avLst/>
          </a:prstGeom>
          <a:solidFill>
            <a:srgbClr val="0D174F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0C7B08-6A7D-8C71-D22F-16D234A2F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246" y="6538583"/>
            <a:ext cx="1310754" cy="3048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B390E4-26BB-4634-2218-2BEE4FCFB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14591"/>
            <a:ext cx="609574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275953"/>
            <a:ext cx="2225917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1320403"/>
            <a:ext cx="260690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 · THE MECHANISM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753493"/>
            <a:ext cx="5516821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WireLock </a:t>
            </a:r>
            <a:r>
              <a:rPr lang="en-US" sz="3400" b="1" kern="100" spc="-85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447925"/>
            <a:ext cx="551682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Move authentication from the air to the physical connection.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186509"/>
            <a:ext cx="5516821" cy="2395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Zero-RF architecture: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removes the wireless attack surface; no radio frequencies means no relay attacks.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Physical handshake: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proprietary contact-based authentication.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Advanced cryptography: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ASCON and AES-based device authentication.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Dynamic defense: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dynamic block permutation helps prevent hardware-level cloning.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684" y="0"/>
            <a:ext cx="81268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3B54C5-A364-0A07-B439-BD0ABB910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1" y="410755"/>
            <a:ext cx="4164714" cy="4956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364521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174551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 · THE 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Security that fits the </a:t>
            </a:r>
            <a:r>
              <a:rPr lang="en-US" sz="3400" b="1" kern="100" spc="-85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vehicle economics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low-cost security layer for platforms where premium hardware is out of reach.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251472"/>
            <a:ext cx="2628834" cy="3996928"/>
          </a:xfrm>
          <a:prstGeom prst="roundRect">
            <a:avLst>
              <a:gd name="adj" fmla="val 4638"/>
            </a:avLst>
          </a:prstGeom>
          <a:solidFill>
            <a:srgbClr val="15206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480072"/>
            <a:ext cx="40639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2988072"/>
            <a:ext cx="21716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Ultra-low cost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8179" y="3487142"/>
            <a:ext cx="217164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Target BOM under $2 at volume production.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90815" y="2251472"/>
            <a:ext cx="2628834" cy="3996928"/>
          </a:xfrm>
          <a:prstGeom prst="roundRect">
            <a:avLst>
              <a:gd name="adj" fmla="val 4638"/>
            </a:avLst>
          </a:prstGeom>
          <a:solidFill>
            <a:srgbClr val="15206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409" y="2480072"/>
            <a:ext cx="406390" cy="40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9409" y="2988072"/>
            <a:ext cx="217164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Seamless integration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19409" y="3795713"/>
            <a:ext cx="217164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Standalone master key or high-security backup.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72046" y="2251472"/>
            <a:ext cx="2628834" cy="3996928"/>
          </a:xfrm>
          <a:prstGeom prst="roundRect">
            <a:avLst>
              <a:gd name="adj" fmla="val 4638"/>
            </a:avLst>
          </a:prstGeom>
          <a:solidFill>
            <a:srgbClr val="15206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640" y="2480072"/>
            <a:ext cx="406390" cy="406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640" y="2988072"/>
            <a:ext cx="21716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Commercial fleets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400640" y="3487142"/>
            <a:ext cx="217164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Protect shared vehicles without premium hardware.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953276" y="2251472"/>
            <a:ext cx="2628834" cy="3996928"/>
          </a:xfrm>
          <a:prstGeom prst="roundRect">
            <a:avLst>
              <a:gd name="adj" fmla="val 4638"/>
            </a:avLst>
          </a:prstGeom>
          <a:solidFill>
            <a:srgbClr val="15206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1870" y="2480072"/>
            <a:ext cx="406390" cy="406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81870" y="2988072"/>
            <a:ext cx="217164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Rental, EV, and 2-wheelers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9181870" y="3795713"/>
            <a:ext cx="2171646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Built for self-drive rental cars, cost-sensitive EV platforms, and 2-wheelers.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41E6FD7-564D-7C8B-5434-6BF0B89A15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246" y="6566165"/>
            <a:ext cx="1310754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161" cy="6858000"/>
          </a:xfrm>
          <a:prstGeom prst="rect">
            <a:avLst/>
          </a:prstGeom>
          <a:solidFill>
            <a:srgbClr val="080E33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431800"/>
            <a:ext cx="664957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 · PARTNER VALIDATION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2588" y="671116"/>
            <a:ext cx="6166986" cy="139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Traction is ready for </a:t>
            </a:r>
            <a:r>
              <a:rPr lang="en-US" sz="5600" b="1" kern="100" spc="-168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partner validation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82588" y="2368153"/>
            <a:ext cx="711182" cy="31651"/>
          </a:xfrm>
          <a:prstGeom prst="roundRect">
            <a:avLst>
              <a:gd name="adj" fmla="val 49998"/>
            </a:avLst>
          </a:prstGeom>
          <a:solidFill>
            <a:srgbClr val="9BD33A"/>
          </a:solidFill>
          <a:ln/>
        </p:spPr>
      </p:sp>
      <p:sp>
        <p:nvSpPr>
          <p:cNvPr id="6" name="Text 4"/>
          <p:cNvSpPr/>
          <p:nvPr/>
        </p:nvSpPr>
        <p:spPr>
          <a:xfrm>
            <a:off x="482588" y="2626916"/>
            <a:ext cx="3007245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138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PATENT</a:t>
            </a:r>
            <a:endParaRPr lang="en-US" sz="46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138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PENDING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82588" y="3886200"/>
            <a:ext cx="30072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IP protection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2588" y="4385270"/>
            <a:ext cx="300724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Indian patent filed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588" y="4779963"/>
            <a:ext cx="300724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App No: 202641101016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42229" y="2626916"/>
            <a:ext cx="300734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42229" y="3125986"/>
            <a:ext cx="3007344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Fully functional hardware prototype with 3D-printed enclosure ready.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588" y="6046589"/>
            <a:ext cx="6166986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23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Tier-1 automotive partners · technical evaluation · co-development · non-exclusive licensing</a:t>
            </a:r>
            <a:endParaRPr lang="en-US" sz="11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7BAB45A-C138-6096-7A22-0CC932DB6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938" y="6532870"/>
            <a:ext cx="1867062" cy="3251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270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Onest</vt:lpstr>
      <vt:lpstr>Arial</vt:lpstr>
      <vt:lpstr>Onest SemiBold</vt:lpstr>
      <vt:lpstr>Familjen Grotesk Bold</vt:lpstr>
      <vt:lpstr>Onest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Jeyaram B</cp:lastModifiedBy>
  <cp:revision>3</cp:revision>
  <dcterms:created xsi:type="dcterms:W3CDTF">2026-10-05T05:45:35Z</dcterms:created>
  <dcterms:modified xsi:type="dcterms:W3CDTF">2026-10-05T11:48:44Z</dcterms:modified>
</cp:coreProperties>
</file>